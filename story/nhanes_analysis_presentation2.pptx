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2" r:id="rId7"/>
    <p:sldId id="261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2004" y="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F497D"/>
                </a:solidFill>
              </a:defRPr>
            </a:pPr>
            <a:r>
              <a:rPr dirty="0"/>
              <a:t>NHANES Data Analysis: Exploring CRP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9931" y="2145195"/>
            <a:ext cx="7421217" cy="3029777"/>
          </a:xfrm>
        </p:spPr>
        <p:txBody>
          <a:bodyPr>
            <a:normAutofit/>
          </a:bodyPr>
          <a:lstStyle/>
          <a:p>
            <a:pPr algn="ctr"/>
            <a:endParaRPr dirty="0"/>
          </a:p>
          <a:p>
            <a:pPr marL="0" indent="0" algn="ctr">
              <a:buNone/>
              <a:defRPr sz="1800"/>
            </a:pPr>
            <a:r>
              <a:rPr sz="2400" dirty="0"/>
              <a:t>Analyzing Age, Gender, BMI, and Waist-to-Height Ratio</a:t>
            </a:r>
            <a:endParaRPr lang="en-US" sz="2400" dirty="0"/>
          </a:p>
          <a:p>
            <a:pPr algn="ctr">
              <a:defRPr sz="1800"/>
            </a:pPr>
            <a:endParaRPr lang="en-US" dirty="0"/>
          </a:p>
          <a:p>
            <a:pPr marL="0" indent="0" algn="ctr">
              <a:buNone/>
              <a:defRPr sz="1800"/>
            </a:pPr>
            <a:r>
              <a:rPr dirty="0"/>
              <a:t>Presented by:</a:t>
            </a:r>
            <a:r>
              <a:rPr lang="en-US" dirty="0"/>
              <a:t> A. Karadsheh</a:t>
            </a:r>
          </a:p>
          <a:p>
            <a:pPr algn="ctr">
              <a:defRPr sz="1800"/>
            </a:pPr>
            <a:endParaRPr lang="en-US" dirty="0"/>
          </a:p>
          <a:p>
            <a:pPr marL="0" indent="0" algn="ctr">
              <a:buNone/>
              <a:defRPr sz="1800"/>
            </a:pPr>
            <a:r>
              <a:rPr dirty="0"/>
              <a:t>Date: June 29,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F497D"/>
                </a:solidFill>
              </a:defRPr>
            </a:pPr>
            <a:r>
              <a:t>Data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algn="l">
              <a:defRPr sz="1800"/>
            </a:pPr>
            <a:endParaRPr lang="en-US" dirty="0"/>
          </a:p>
          <a:p>
            <a:pPr marL="0" indent="0" algn="l">
              <a:buNone/>
              <a:defRPr sz="1800"/>
            </a:pPr>
            <a:r>
              <a:rPr dirty="0"/>
              <a:t>NHANES dataset (2003-2006) with 18619 participants after </a:t>
            </a:r>
            <a:r>
              <a:rPr lang="en-US" dirty="0"/>
              <a:t>combining sets and </a:t>
            </a:r>
            <a:r>
              <a:rPr dirty="0"/>
              <a:t>cleaning.</a:t>
            </a:r>
            <a:endParaRPr lang="en-US" dirty="0"/>
          </a:p>
          <a:p>
            <a:pPr marL="0" indent="0" algn="l">
              <a:buNone/>
              <a:defRPr sz="1800"/>
            </a:pPr>
            <a:endParaRPr lang="en-US" dirty="0"/>
          </a:p>
          <a:p>
            <a:pPr marL="0" indent="0" algn="l">
              <a:buNone/>
              <a:defRPr sz="1800"/>
            </a:pPr>
            <a:br>
              <a:rPr dirty="0"/>
            </a:br>
            <a:r>
              <a:rPr dirty="0"/>
              <a:t>Features: Age, Gender, BMI, Waist-to-Height Ratio, CRP</a:t>
            </a:r>
            <a:r>
              <a:rPr lang="en-US" dirty="0"/>
              <a:t> (C Reactive Protein, an inflammation marker)</a:t>
            </a:r>
          </a:p>
          <a:p>
            <a:pPr marL="0" indent="0" algn="l">
              <a:buNone/>
              <a:defRPr sz="1800"/>
            </a:pPr>
            <a:endParaRPr lang="en-US" dirty="0"/>
          </a:p>
          <a:p>
            <a:pPr marL="0" indent="0" algn="l">
              <a:buNone/>
              <a:defRPr sz="1800"/>
            </a:pPr>
            <a:br>
              <a:rPr dirty="0"/>
            </a:br>
            <a:r>
              <a:rPr dirty="0"/>
              <a:t>Cleaning: </a:t>
            </a:r>
            <a:r>
              <a:rPr lang="en-US" dirty="0"/>
              <a:t>Selected columns, d</a:t>
            </a:r>
            <a:r>
              <a:rPr dirty="0"/>
              <a:t>ropped rows with missing</a:t>
            </a:r>
            <a:r>
              <a:rPr lang="en-US" dirty="0"/>
              <a:t> data</a:t>
            </a:r>
            <a:r>
              <a:rPr dirty="0"/>
              <a:t>; encoded Gender (Male: 1, Female: 0)</a:t>
            </a:r>
            <a:r>
              <a:rPr lang="en-US" dirty="0"/>
              <a:t> among other steps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F497D"/>
                </a:solidFill>
              </a:defRPr>
            </a:pPr>
            <a:r>
              <a:t>Correlation with CRP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algn="l">
              <a:defRPr sz="1800"/>
            </a:pPr>
            <a:r>
              <a:rPr dirty="0"/>
              <a:t>Correlations with CRP:</a:t>
            </a:r>
            <a:br>
              <a:rPr dirty="0"/>
            </a:br>
            <a:r>
              <a:rPr dirty="0"/>
              <a:t>Age: 0.177</a:t>
            </a:r>
            <a:br>
              <a:rPr dirty="0"/>
            </a:br>
            <a:r>
              <a:rPr dirty="0"/>
              <a:t>Gender: -0.067</a:t>
            </a:r>
            <a:br>
              <a:rPr dirty="0"/>
            </a:br>
            <a:r>
              <a:rPr dirty="0"/>
              <a:t>BMI: </a:t>
            </a:r>
            <a:r>
              <a:rPr dirty="0">
                <a:solidFill>
                  <a:srgbClr val="FF0000"/>
                </a:solidFill>
              </a:rPr>
              <a:t>0.246</a:t>
            </a:r>
            <a:br>
              <a:rPr dirty="0"/>
            </a:br>
            <a:r>
              <a:rPr dirty="0" err="1"/>
              <a:t>WaistToHeightRatio</a:t>
            </a:r>
            <a:r>
              <a:rPr dirty="0"/>
              <a:t>: </a:t>
            </a:r>
            <a:r>
              <a:rPr dirty="0">
                <a:solidFill>
                  <a:srgbClr val="FF0000"/>
                </a:solidFill>
              </a:rPr>
              <a:t>0.230</a:t>
            </a:r>
            <a:br>
              <a:rPr dirty="0"/>
            </a:br>
            <a:endParaRPr lang="en-US" dirty="0"/>
          </a:p>
          <a:p>
            <a:pPr algn="l">
              <a:defRPr sz="1800"/>
            </a:pPr>
            <a:endParaRPr lang="en-US" dirty="0"/>
          </a:p>
          <a:p>
            <a:pPr algn="l">
              <a:defRPr sz="1800"/>
            </a:pPr>
            <a:endParaRPr lang="en-US" dirty="0"/>
          </a:p>
          <a:p>
            <a:pPr algn="l">
              <a:defRPr sz="1800"/>
            </a:pPr>
            <a:endParaRPr lang="en-US" dirty="0"/>
          </a:p>
          <a:p>
            <a:pPr algn="l">
              <a:defRPr sz="1800"/>
            </a:pPr>
            <a:endParaRPr lang="en-US" dirty="0"/>
          </a:p>
          <a:p>
            <a:pPr marL="0" indent="0" algn="l">
              <a:buNone/>
              <a:defRPr sz="1800"/>
            </a:pPr>
            <a:br>
              <a:rPr dirty="0"/>
            </a:br>
            <a:r>
              <a:rPr dirty="0"/>
              <a:t>Insight: BMI and Waist-to-Height Ratio show stronger positive correlations with CRP.</a:t>
            </a:r>
          </a:p>
        </p:txBody>
      </p:sp>
      <p:pic>
        <p:nvPicPr>
          <p:cNvPr id="4" name="Picture 3" descr="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2307" y="1483899"/>
            <a:ext cx="4681847" cy="312123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F497D"/>
                </a:solidFill>
              </a:defRPr>
            </a:pPr>
            <a:r>
              <a:t>CRP by Gender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defRPr sz="1800"/>
            </a:pPr>
            <a:r>
              <a:t>Insight: Females (0) tend to have slightly higher median CRP levels than males (1).</a:t>
            </a:r>
          </a:p>
        </p:txBody>
      </p:sp>
      <p:pic>
        <p:nvPicPr>
          <p:cNvPr id="4" name="Picture 3" descr="crp_by_gender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296" y="2842591"/>
            <a:ext cx="5486400" cy="35684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F497D"/>
                </a:solidFill>
              </a:defRPr>
            </a:pPr>
            <a:r>
              <a:t>BMI vs CRP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defRPr sz="1800"/>
            </a:pPr>
            <a:r>
              <a:t>Observation: Higher BMI is associated with elevated CRP levels, indicating inflammation risk.</a:t>
            </a:r>
          </a:p>
        </p:txBody>
      </p:sp>
      <p:pic>
        <p:nvPicPr>
          <p:cNvPr id="4" name="Picture 3" descr="bmi_vs_crp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6210" y="2802835"/>
            <a:ext cx="5486400" cy="35684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F497D"/>
                </a:solidFill>
              </a:defRPr>
            </a:pPr>
            <a:r>
              <a:rPr dirty="0"/>
              <a:t>Interesting Fact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algn="l">
              <a:defRPr sz="1800"/>
            </a:pPr>
            <a:r>
              <a:rPr dirty="0"/>
              <a:t>Participants with </a:t>
            </a:r>
            <a:r>
              <a:rPr lang="en-US" dirty="0"/>
              <a:t>Higher </a:t>
            </a:r>
            <a:r>
              <a:rPr dirty="0"/>
              <a:t>Waist-to-Height Ratio</a:t>
            </a:r>
            <a:r>
              <a:rPr lang="en-US" dirty="0"/>
              <a:t> (correlates with BMI)</a:t>
            </a:r>
            <a:r>
              <a:rPr dirty="0"/>
              <a:t> have</a:t>
            </a:r>
            <a:r>
              <a:rPr lang="en-US" dirty="0"/>
              <a:t> </a:t>
            </a:r>
            <a:r>
              <a:rPr dirty="0"/>
              <a:t>higher CRP levels, highlighting the link between central obesity and inflammation.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2FBD7F5-0481-B391-39EA-F01D12B0E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191" y="3062317"/>
            <a:ext cx="5413513" cy="35098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F497D"/>
                </a:solidFill>
              </a:defRPr>
            </a:pPr>
            <a:r>
              <a:t>Predictive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pPr>
              <a:defRPr sz="1800"/>
            </a:pPr>
            <a:r>
              <a:rPr dirty="0"/>
              <a:t>Model Comparison:</a:t>
            </a:r>
            <a:r>
              <a:rPr lang="en-US" dirty="0"/>
              <a:t> Random Forest vs. </a:t>
            </a:r>
            <a:r>
              <a:rPr lang="en-US" dirty="0" err="1"/>
              <a:t>XGBoost</a:t>
            </a:r>
            <a:endParaRPr lang="en-US" dirty="0"/>
          </a:p>
          <a:p>
            <a:pPr algn="l">
              <a:defRPr sz="1800"/>
            </a:pPr>
            <a:endParaRPr lang="en-US" dirty="0"/>
          </a:p>
          <a:p>
            <a:pPr algn="l">
              <a:defRPr sz="1800"/>
            </a:pPr>
            <a:r>
              <a:rPr dirty="0"/>
              <a:t>Random Forest (CRP): MSE=0.10, R²=0.21</a:t>
            </a:r>
            <a:br>
              <a:rPr dirty="0"/>
            </a:br>
            <a:r>
              <a:rPr dirty="0"/>
              <a:t>Ensemble of decision trees, robust to overfitting (</a:t>
            </a:r>
            <a:r>
              <a:rPr dirty="0" err="1"/>
              <a:t>winsorized</a:t>
            </a:r>
            <a:r>
              <a:rPr dirty="0"/>
              <a:t> CRP).</a:t>
            </a:r>
            <a:br>
              <a:rPr dirty="0"/>
            </a:br>
            <a:r>
              <a:rPr dirty="0"/>
              <a:t>Random Forest (</a:t>
            </a:r>
            <a:r>
              <a:rPr dirty="0" err="1"/>
              <a:t>LogCRP</a:t>
            </a:r>
            <a:r>
              <a:rPr dirty="0"/>
              <a:t>): MSE=0.08, R²=0.14</a:t>
            </a:r>
            <a:br>
              <a:rPr dirty="0"/>
            </a:br>
            <a:r>
              <a:rPr dirty="0"/>
              <a:t>Ensemble of decision trees, robust to overfitting (log-transformed CRP).</a:t>
            </a:r>
            <a:endParaRPr lang="en-US" dirty="0"/>
          </a:p>
          <a:p>
            <a:pPr algn="l">
              <a:defRPr sz="1800"/>
            </a:pPr>
            <a:endParaRPr lang="en-US" dirty="0"/>
          </a:p>
          <a:p>
            <a:pPr algn="l">
              <a:defRPr sz="1800"/>
            </a:pPr>
            <a:r>
              <a:rPr dirty="0" err="1"/>
              <a:t>XGBoost</a:t>
            </a:r>
            <a:r>
              <a:rPr dirty="0"/>
              <a:t> (CRP): MSE=0.09, R²=0.23</a:t>
            </a:r>
            <a:br>
              <a:rPr dirty="0"/>
            </a:br>
            <a:r>
              <a:rPr dirty="0"/>
              <a:t>Gradient boosting, high performance (</a:t>
            </a:r>
            <a:r>
              <a:rPr dirty="0" err="1"/>
              <a:t>winsorized</a:t>
            </a:r>
            <a:r>
              <a:rPr dirty="0"/>
              <a:t> CRP).</a:t>
            </a:r>
            <a:br>
              <a:rPr dirty="0"/>
            </a:br>
            <a:r>
              <a:rPr dirty="0" err="1"/>
              <a:t>XGBoost</a:t>
            </a:r>
            <a:r>
              <a:rPr dirty="0"/>
              <a:t> (</a:t>
            </a:r>
            <a:r>
              <a:rPr dirty="0" err="1"/>
              <a:t>LogCRP</a:t>
            </a:r>
            <a:r>
              <a:rPr dirty="0"/>
              <a:t>): MSE=0.08, R²=0.17</a:t>
            </a:r>
            <a:br>
              <a:rPr dirty="0"/>
            </a:br>
            <a:r>
              <a:rPr dirty="0"/>
              <a:t>Gradient boosting, high performance (log-transformed CRP).</a:t>
            </a:r>
            <a:br>
              <a:rPr dirty="0"/>
            </a:br>
            <a:br>
              <a:rPr dirty="0"/>
            </a:br>
            <a:r>
              <a:rPr dirty="0"/>
              <a:t>Recommendation: </a:t>
            </a:r>
            <a:r>
              <a:rPr dirty="0" err="1"/>
              <a:t>XGBoost</a:t>
            </a:r>
            <a:r>
              <a:rPr dirty="0"/>
              <a:t> slightly outperforms Random Forest.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F497D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algn="l">
              <a:defRPr sz="1800"/>
            </a:pPr>
            <a:r>
              <a:rPr dirty="0"/>
              <a:t>BMI and Waist-to-Height Ratio are key predictors of CRP, linking obesity to inflammation.</a:t>
            </a:r>
            <a:endParaRPr lang="en-US" dirty="0"/>
          </a:p>
          <a:p>
            <a:pPr algn="l">
              <a:defRPr sz="1800"/>
            </a:pPr>
            <a:endParaRPr lang="en-US" dirty="0"/>
          </a:p>
          <a:p>
            <a:pPr algn="l">
              <a:defRPr sz="1800"/>
            </a:pPr>
            <a:r>
              <a:rPr dirty="0" err="1"/>
              <a:t>XGBoost</a:t>
            </a:r>
            <a:r>
              <a:rPr dirty="0"/>
              <a:t> is recommended for prediction.</a:t>
            </a:r>
            <a:endParaRPr lang="en-US" dirty="0"/>
          </a:p>
          <a:p>
            <a:pPr algn="l">
              <a:defRPr sz="1800"/>
            </a:pPr>
            <a:endParaRPr lang="en-US" dirty="0"/>
          </a:p>
          <a:p>
            <a:pPr algn="l">
              <a:defRPr sz="1800"/>
            </a:pPr>
            <a:endParaRPr lang="en-US" dirty="0"/>
          </a:p>
          <a:p>
            <a:pPr algn="l">
              <a:defRPr sz="1800"/>
            </a:pPr>
            <a:r>
              <a:rPr dirty="0"/>
              <a:t>Future Steps: Incorporate diet</a:t>
            </a:r>
            <a:r>
              <a:rPr lang="en-US" dirty="0"/>
              <a:t>, </a:t>
            </a:r>
            <a:r>
              <a:rPr dirty="0"/>
              <a:t>activity </a:t>
            </a:r>
            <a:r>
              <a:rPr lang="en-US" dirty="0"/>
              <a:t>and other lab </a:t>
            </a:r>
            <a:r>
              <a:rPr dirty="0"/>
              <a:t>data for improved models.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342</Words>
  <Application>Microsoft Office PowerPoint</Application>
  <PresentationFormat>On-screen Show (4:3)</PresentationFormat>
  <Paragraphs>47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NHANES Data Analysis: Exploring CRP</vt:lpstr>
      <vt:lpstr>Data Overview</vt:lpstr>
      <vt:lpstr>Correlation with CRP</vt:lpstr>
      <vt:lpstr>CRP by Gender</vt:lpstr>
      <vt:lpstr>BMI vs CRP</vt:lpstr>
      <vt:lpstr>Interesting Fact</vt:lpstr>
      <vt:lpstr>Predictive Modeling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 Karadsheh</cp:lastModifiedBy>
  <cp:revision>3</cp:revision>
  <dcterms:created xsi:type="dcterms:W3CDTF">2013-01-27T09:14:16Z</dcterms:created>
  <dcterms:modified xsi:type="dcterms:W3CDTF">2025-06-29T23:26:29Z</dcterms:modified>
  <cp:category/>
</cp:coreProperties>
</file>