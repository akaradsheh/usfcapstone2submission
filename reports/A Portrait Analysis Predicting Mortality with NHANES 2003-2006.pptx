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266" r:id="rId4"/>
    <p:sldId id="263" r:id="rId5"/>
    <p:sldId id="273" r:id="rId6"/>
    <p:sldId id="268" r:id="rId7"/>
    <p:sldId id="258" r:id="rId8"/>
    <p:sldId id="269" r:id="rId9"/>
    <p:sldId id="270" r:id="rId10"/>
    <p:sldId id="271" r:id="rId11"/>
    <p:sldId id="274" r:id="rId12"/>
    <p:sldId id="280" r:id="rId13"/>
    <p:sldId id="272" r:id="rId14"/>
    <p:sldId id="281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AD80B-4A61-4722-AF45-570085D9087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F9708-A7C7-46A0-AB72-245A91661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97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2D7F2-B3B6-F637-082B-A86DFE6E8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B4B59-66D3-6D18-C600-16D172D44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BB36F-FF85-8804-0ED2-367D74BE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E79F0-82DE-6635-AC3A-5B165852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BFE46-A1E8-B555-B226-BF8B53E9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0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3DAE-3CDE-73D5-0EAB-3E25824F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1ECE0-F271-BC77-5F64-8EE61C54B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9960-14F6-1FD4-0C8E-C61E7BE7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43021-F5D5-A3A6-AA23-D9A18AD8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E0CC-19B2-3E64-FDAD-A4742EFF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8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5AE4-7C91-0C5F-B9AF-C21A2534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E795B-80F1-745C-D23A-F363152F2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93038-643B-4637-BBC0-3A7C0069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B8D6-E163-EAC2-3C7C-7493C19E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D3E8-4AB8-9860-5704-D702B2E0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B372-3AF3-3BFB-EB30-CD203BCE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FAB5-C073-9329-1F62-B16785150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2ECA8-AAD1-1AB5-6484-728AA43E2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93FC4-92E9-10A0-5AB6-6C0783E2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488E4-431C-D046-50BF-EB66EB3B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C035B-2C20-79CD-1C43-E06ACE0B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8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3428-114F-68BA-E1F8-282725A3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422F4-E7F9-C87F-6E20-99A180DC9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4A19B-E735-81C8-392B-30E35B9AC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DFE05-5EFB-0689-0E03-0E9B88270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81516-1EDC-2688-4671-CFA50C915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21E39-4E34-3863-8E5C-0EC6D4957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90BD5-D259-AC69-FC9B-C1BB9190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3E7B6-0674-E135-DE64-425A564A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8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56A7-6618-FD7E-7A58-F676D0CF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9971F9-7476-6C09-33BA-3C4B50B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733A0-0865-50CC-1256-DF71F739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08C0A-135D-5890-FE51-0F8B17BD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6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999E4-FAF8-B7AD-9093-B4A2A7A1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28CCA-C102-93C0-7BBF-2F801D6D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9657C-0436-775D-B0EA-2DDB429A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1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A944-9CBB-F0A7-27EC-4890B751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11B6D-95F3-E209-FCA7-1BA61AE3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D9213-D046-0B25-BB47-5909589D0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55A2-FBBC-8820-AA7F-2E41F047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EAFFC-394A-FC55-6EE4-10373377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AAD9E-CCB9-9983-7CD0-A1FF2067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1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4EDF-69D3-5691-86E0-920587A8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D8D4EF-0DFD-DB61-562E-78C9F40E8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9D424-F6AC-9A68-5B15-E321FD763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91B3D-BBC3-0062-6D79-23BF81D9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B931F-BBB5-2594-FBE0-B61297C80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6B4D1-77F6-ED27-38C6-460FA6B8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0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F991-EBE0-8988-2CC2-50715C84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DB4F0-EB14-E89A-B5B4-784F3FD2F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4EEE-87C2-A6E2-0FCC-2BDF1840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7F15E-CADE-CF30-0D20-5546D27E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11BC5-BF13-2E83-92D9-0DA20F6A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9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16216-F627-98D3-80D9-4211E4382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33186-2460-C6EB-AF3E-0C7FA28AC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083E-437E-A4EC-D170-0AD8E02F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6891E-6AD1-0A1E-C47B-1757E1EB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BEF6F-699C-2E38-B295-3AACFB1E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0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11BA7-2EEC-9B8E-C1B6-125D2CC1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5D036-8674-FDA1-9421-D3E72342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9B92F-386F-236B-7850-8678DA4F7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C7763-21EB-4F4E-8D7D-5A5EF9603FD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FA377-47F2-C3C7-993F-9ECD78793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FD5AB-D15E-93C8-F130-06752BC49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2224E-2222-4651-B357-2D19392C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4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5AE4-FE15-8796-8C5B-100D2BB82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6251" y="572173"/>
            <a:ext cx="9144000" cy="1287623"/>
          </a:xfrm>
        </p:spPr>
        <p:txBody>
          <a:bodyPr anchor="t">
            <a:noAutofit/>
          </a:bodyPr>
          <a:lstStyle/>
          <a:p>
            <a:r>
              <a:rPr lang="en-US" sz="3200" dirty="0"/>
              <a:t>A Portrait of Mortality Prediction with NHANES 2003-2006: Morphometrics, Activity, and Metabolic Markers</a:t>
            </a: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C45E3-942B-76C0-1C3E-B35904F4D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2231" y="3206831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A Data-Driven Exploration of Energy Balance and Longevity </a:t>
            </a:r>
          </a:p>
          <a:p>
            <a:r>
              <a:rPr lang="en-US" dirty="0"/>
              <a:t>By Proxies:</a:t>
            </a:r>
          </a:p>
          <a:p>
            <a:r>
              <a:rPr lang="en-US" dirty="0"/>
              <a:t>Activity, Hypertension, Sleep Apnea, Morphometrics, Laboratory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C8B83-96E7-4FEB-C771-1BDA5EE66744}"/>
              </a:ext>
            </a:extLst>
          </p:cNvPr>
          <p:cNvSpPr txBox="1"/>
          <p:nvPr/>
        </p:nvSpPr>
        <p:spPr>
          <a:xfrm>
            <a:off x="3704095" y="2293749"/>
            <a:ext cx="485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lphaUcPeriod"/>
            </a:pPr>
            <a:r>
              <a:rPr lang="en-US" dirty="0"/>
              <a:t>Karadsheh, M.D.</a:t>
            </a:r>
          </a:p>
          <a:p>
            <a:pPr algn="ctr"/>
            <a:r>
              <a:rPr lang="en-US" dirty="0"/>
              <a:t>June 29, 2025</a:t>
            </a:r>
          </a:p>
        </p:txBody>
      </p:sp>
    </p:spTree>
    <p:extLst>
      <p:ext uri="{BB962C8B-B14F-4D97-AF65-F5344CB8AC3E}">
        <p14:creationId xmlns:p14="http://schemas.microsoft.com/office/powerpoint/2010/main" val="47656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0118-9FC3-1342-9565-3FBC8D49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1EA7-31A2-BF58-0225-8F3FCEEBC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913"/>
            <a:ext cx="10515600" cy="4351338"/>
          </a:xfrm>
        </p:spPr>
        <p:txBody>
          <a:bodyPr/>
          <a:lstStyle/>
          <a:p>
            <a:pPr lvl="0"/>
            <a:r>
              <a:rPr lang="en-US" b="1" dirty="0"/>
              <a:t>Objective</a:t>
            </a:r>
            <a:r>
              <a:rPr lang="en-US" dirty="0"/>
              <a:t>: Predict all-cause mortality using NHANES 2003-2006 data, focusing on morphometrics, physical activity, and metabolic markers. </a:t>
            </a:r>
          </a:p>
          <a:p>
            <a:pPr lvl="0"/>
            <a:r>
              <a:rPr lang="en-US" b="1" dirty="0"/>
              <a:t>Hypothesis</a:t>
            </a:r>
            <a:r>
              <a:rPr lang="en-US" dirty="0"/>
              <a:t>: Energy balance (via respiration, activity, and metabolism) drives health outcomes and mortality risk. </a:t>
            </a:r>
          </a:p>
          <a:p>
            <a:pPr lvl="0"/>
            <a:r>
              <a:rPr lang="en-US" b="1" dirty="0"/>
              <a:t>Dataset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NHANES 2003-2004 &amp; 2005-2006 cycles. </a:t>
            </a:r>
          </a:p>
          <a:p>
            <a:pPr lvl="1"/>
            <a:r>
              <a:rPr lang="en-US" dirty="0"/>
              <a:t>3,198 participants, 121 variables (demographics, morphometrics, activity, labs, mortality, including 5 year survival). </a:t>
            </a:r>
          </a:p>
          <a:p>
            <a:pPr lvl="1"/>
            <a:r>
              <a:rPr lang="en-US" dirty="0"/>
              <a:t>Source: CDC NHANES + Leroux et al. (2019) mortality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9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FCC0-0891-1F48-23ED-A074D6A0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6B67D-0812-5562-FE3B-98E4A9F5D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NHANES</a:t>
            </a:r>
            <a:r>
              <a:rPr lang="en-US" dirty="0"/>
              <a:t>: Biennial CDC survey assessing health and nutrition in the U.S. population. </a:t>
            </a:r>
          </a:p>
          <a:p>
            <a:pPr lvl="0"/>
            <a:r>
              <a:rPr lang="en-US" b="1" dirty="0"/>
              <a:t>Leroux et al. (2019)</a:t>
            </a:r>
            <a:r>
              <a:rPr lang="en-US" dirty="0"/>
              <a:t>: Accelerometry-derived activity (e.g., Total Activity Counts [TAC]) predicts 5-year mortality better than traditional risk factors. </a:t>
            </a:r>
          </a:p>
          <a:p>
            <a:pPr lvl="0"/>
            <a:r>
              <a:rPr lang="en-US" b="1" dirty="0"/>
              <a:t>This Study</a:t>
            </a:r>
            <a:r>
              <a:rPr lang="en-US" dirty="0"/>
              <a:t>: Extends analysis by including: </a:t>
            </a:r>
          </a:p>
          <a:p>
            <a:pPr lvl="1"/>
            <a:r>
              <a:rPr lang="en-US" dirty="0"/>
              <a:t>Sleep apnea probability.</a:t>
            </a:r>
          </a:p>
          <a:p>
            <a:pPr lvl="1"/>
            <a:r>
              <a:rPr lang="en-US" dirty="0"/>
              <a:t>Morphometrics (e.g., BMI, Waist-to-Height Ratio [</a:t>
            </a:r>
            <a:r>
              <a:rPr lang="en-US" dirty="0" err="1"/>
              <a:t>WHtR</a:t>
            </a:r>
            <a:r>
              <a:rPr lang="en-US" dirty="0"/>
              <a:t>]). </a:t>
            </a:r>
          </a:p>
          <a:p>
            <a:pPr lvl="1"/>
            <a:r>
              <a:rPr lang="en-US" dirty="0"/>
              <a:t>Metabolic markers (e.g., creatinine, triglycerides). </a:t>
            </a:r>
          </a:p>
          <a:p>
            <a:r>
              <a:rPr lang="en-US" dirty="0"/>
              <a:t>Focus on respiration and energy balance proxies.</a:t>
            </a:r>
          </a:p>
        </p:txBody>
      </p:sp>
    </p:spTree>
    <p:extLst>
      <p:ext uri="{BB962C8B-B14F-4D97-AF65-F5344CB8AC3E}">
        <p14:creationId xmlns:p14="http://schemas.microsoft.com/office/powerpoint/2010/main" val="84761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13A6-0927-7AC9-4E1F-9BC4FFAC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Sources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59CCB-29E3-B046-600D-BF7F36DB0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Data Sources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Mortality &amp; Activity</a:t>
            </a:r>
            <a:r>
              <a:rPr lang="en-US" dirty="0"/>
              <a:t>: Leroux et al. dataset (3,198 rows, 81 columns). </a:t>
            </a:r>
          </a:p>
          <a:p>
            <a:pPr lvl="1"/>
            <a:r>
              <a:rPr lang="en-US" b="1" dirty="0"/>
              <a:t>Body Measurements (BMX)</a:t>
            </a:r>
            <a:r>
              <a:rPr lang="en-US" dirty="0"/>
              <a:t>: 19,593 rows, 34 columns (e.g., Weight, Height, BMI). </a:t>
            </a:r>
          </a:p>
          <a:p>
            <a:pPr lvl="1"/>
            <a:r>
              <a:rPr lang="en-US" b="1" dirty="0"/>
              <a:t>Demographics (DEMO)</a:t>
            </a:r>
            <a:r>
              <a:rPr lang="en-US" dirty="0"/>
              <a:t>: 20,470 rows, 46 columns (e.g., Age, Gender, Race). </a:t>
            </a:r>
          </a:p>
          <a:p>
            <a:pPr lvl="1"/>
            <a:r>
              <a:rPr lang="en-US" b="1" dirty="0"/>
              <a:t>Blood Pressure &amp; Labs</a:t>
            </a:r>
            <a:r>
              <a:rPr lang="en-US" dirty="0"/>
              <a:t>: BPX, BPQ, CRP_D, etc.</a:t>
            </a:r>
          </a:p>
          <a:p>
            <a:pPr lvl="0"/>
            <a:r>
              <a:rPr lang="en-US" b="1" dirty="0"/>
              <a:t>Preprocessing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Merged datasets using participant ID (SEQN). </a:t>
            </a:r>
          </a:p>
          <a:p>
            <a:pPr lvl="1"/>
            <a:r>
              <a:rPr lang="en-US" dirty="0"/>
              <a:t>Cleaned: Dropped flag/comment columns, imputed missing lab values (median). </a:t>
            </a:r>
          </a:p>
          <a:p>
            <a:pPr lvl="1"/>
            <a:r>
              <a:rPr lang="en-US" dirty="0"/>
              <a:t>Derived: Waist-to-Height Ratio (</a:t>
            </a:r>
            <a:r>
              <a:rPr lang="en-US" dirty="0" err="1"/>
              <a:t>WHtR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A18F-AEDB-6CC9-6351-28DC513B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Set: Mortality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9B4F24-8076-038D-91E9-5BE2C02D7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712" y="1825625"/>
            <a:ext cx="7312575" cy="4351338"/>
          </a:xfrm>
        </p:spPr>
      </p:pic>
    </p:spTree>
    <p:extLst>
      <p:ext uri="{BB962C8B-B14F-4D97-AF65-F5344CB8AC3E}">
        <p14:creationId xmlns:p14="http://schemas.microsoft.com/office/powerpoint/2010/main" val="37501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0E4-8780-C7B6-5BAA-F0CA711D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8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A4C3D-9F2F-3419-6B64-1ACEE5D1A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 </a:t>
            </a:r>
            <a:endParaRPr lang="en-US" dirty="0"/>
          </a:p>
          <a:p>
            <a:pPr lvl="0"/>
            <a:r>
              <a:rPr lang="en-US" b="1" dirty="0"/>
              <a:t>Dataset</a:t>
            </a:r>
            <a:r>
              <a:rPr lang="en-US" dirty="0"/>
              <a:t>: </a:t>
            </a:r>
            <a:r>
              <a:rPr lang="en-US" dirty="0" err="1"/>
              <a:t>NHANES_mort_act_morph_lab_df</a:t>
            </a:r>
            <a:r>
              <a:rPr lang="en-US" dirty="0"/>
              <a:t> (3,198 rows, 121 columns). </a:t>
            </a:r>
          </a:p>
          <a:p>
            <a:pPr lvl="0"/>
            <a:r>
              <a:rPr lang="en-US" b="1" dirty="0"/>
              <a:t>Key Statistics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Mortality rate: 15.6% (500 deceased). </a:t>
            </a:r>
          </a:p>
          <a:p>
            <a:pPr lvl="1"/>
            <a:r>
              <a:rPr lang="en-US" dirty="0"/>
              <a:t>Mean age: 65.45 years (range 49–84). </a:t>
            </a:r>
          </a:p>
          <a:p>
            <a:pPr lvl="1"/>
            <a:r>
              <a:rPr lang="en-US" dirty="0"/>
              <a:t>Gender: 50.4% male, 49.6% female. </a:t>
            </a:r>
          </a:p>
          <a:p>
            <a:pPr lvl="1"/>
            <a:r>
              <a:rPr lang="en-US" dirty="0"/>
              <a:t>Race: 58.2% White, 18.8% Black, 17.9% Mexican American.</a:t>
            </a:r>
          </a:p>
          <a:p>
            <a:pPr lvl="0"/>
            <a:r>
              <a:rPr lang="en-US" b="1" dirty="0"/>
              <a:t>Morphometrics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Weight: Mean 60.31 kg (2.4–371 kg). </a:t>
            </a:r>
          </a:p>
          <a:p>
            <a:pPr lvl="1"/>
            <a:r>
              <a:rPr lang="en-US" dirty="0"/>
              <a:t>BMI: Mean 25.37 kg/m² (12.1–81.1 kg/m²).</a:t>
            </a:r>
          </a:p>
          <a:p>
            <a:pPr lvl="0"/>
            <a:r>
              <a:rPr lang="en-US" b="1" dirty="0"/>
              <a:t>Missing Data</a:t>
            </a:r>
            <a:r>
              <a:rPr lang="en-US" dirty="0"/>
              <a:t>: Significant in age-specific measures (e.g., Head Circumference: 19,032 missing – not used).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1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D4D3-4080-D3DF-CE94-05647ED8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5E827D-5627-02C1-3AF8-F81A4A67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65414"/>
              </p:ext>
            </p:extLst>
          </p:nvPr>
        </p:nvGraphicFramePr>
        <p:xfrm>
          <a:off x="999641" y="1466244"/>
          <a:ext cx="10484603" cy="4837430"/>
        </p:xfrm>
        <a:graphic>
          <a:graphicData uri="http://schemas.openxmlformats.org/drawingml/2006/table">
            <a:tbl>
              <a:tblPr/>
              <a:tblGrid>
                <a:gridCol w="4290559">
                  <a:extLst>
                    <a:ext uri="{9D8B030D-6E8A-4147-A177-3AD203B41FA5}">
                      <a16:colId xmlns:a16="http://schemas.microsoft.com/office/drawing/2014/main" val="3668893658"/>
                    </a:ext>
                  </a:extLst>
                </a:gridCol>
                <a:gridCol w="6194044">
                  <a:extLst>
                    <a:ext uri="{9D8B030D-6E8A-4147-A177-3AD203B41FA5}">
                      <a16:colId xmlns:a16="http://schemas.microsoft.com/office/drawing/2014/main" val="930180081"/>
                    </a:ext>
                  </a:extLst>
                </a:gridCol>
              </a:tblGrid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Age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20696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Gender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325482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Race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769869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Activity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989004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Hypertension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289924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BMI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373134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Waist To Height Ratio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677390"/>
                  </a:ext>
                </a:extLst>
              </a:tr>
              <a:tr h="33845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Obstructive Sleep Apnea Probability (OSA)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776483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Labs: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C-Reactive Protein (CRP): Inflammation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078457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Lactate Dehydrogenase (LDH): Metabolism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364883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Triglycerides (TG): Metabolism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76355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Creatinine (Cr): Kidney Function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752068"/>
                  </a:ext>
                </a:extLst>
              </a:tr>
              <a:tr h="338451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Uric Acid: Metabolism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286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24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7E8B-F532-2F57-0CF8-95825545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AE5D3-34C5-796C-C22D-A9456F777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Selected Features: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Numeric: Age, TAC (total activity), </a:t>
            </a:r>
            <a:r>
              <a:rPr lang="en-US" dirty="0" err="1"/>
              <a:t>WHtR_calculated</a:t>
            </a:r>
            <a:r>
              <a:rPr lang="en-US" dirty="0"/>
              <a:t>, </a:t>
            </a:r>
            <a:r>
              <a:rPr lang="en-US" dirty="0" err="1"/>
              <a:t>OSA_Probability</a:t>
            </a:r>
            <a:r>
              <a:rPr lang="en-US" dirty="0"/>
              <a:t>, </a:t>
            </a:r>
            <a:r>
              <a:rPr lang="en-US" dirty="0" err="1"/>
              <a:t>LogCRP</a:t>
            </a:r>
            <a:r>
              <a:rPr lang="en-US" dirty="0"/>
              <a:t>, LDH, Triglycerides, Uric acid, Creatinine. </a:t>
            </a:r>
          </a:p>
          <a:p>
            <a:pPr lvl="1"/>
            <a:r>
              <a:rPr lang="en-US" dirty="0"/>
              <a:t>Categorical: </a:t>
            </a:r>
            <a:r>
              <a:rPr lang="en-US" dirty="0" err="1"/>
              <a:t>Age_Group</a:t>
            </a:r>
            <a:r>
              <a:rPr lang="en-US" dirty="0"/>
              <a:t>, </a:t>
            </a:r>
            <a:r>
              <a:rPr lang="en-US" dirty="0" err="1"/>
              <a:t>BMI_cat</a:t>
            </a:r>
            <a:r>
              <a:rPr lang="en-US" dirty="0"/>
              <a:t>, Race, </a:t>
            </a:r>
            <a:r>
              <a:rPr lang="en-US" dirty="0" err="1"/>
              <a:t>HTN_Category_Measured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Processing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Categorical variables: One-hot encoded. </a:t>
            </a:r>
          </a:p>
          <a:p>
            <a:pPr lvl="1"/>
            <a:r>
              <a:rPr lang="en-US" dirty="0"/>
              <a:t>Numeric features: Scaled using </a:t>
            </a:r>
            <a:r>
              <a:rPr lang="en-US" dirty="0" err="1"/>
              <a:t>StandardScaler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Missing lab values: Imputed with median (131–165 'NA' per column).</a:t>
            </a:r>
          </a:p>
          <a:p>
            <a:pPr lvl="0"/>
            <a:r>
              <a:rPr lang="en-US" b="1" dirty="0"/>
              <a:t>Focus</a:t>
            </a:r>
            <a:r>
              <a:rPr lang="en-US" dirty="0"/>
              <a:t>: Breathing (TAC, </a:t>
            </a:r>
            <a:r>
              <a:rPr lang="en-US" dirty="0" err="1"/>
              <a:t>WHtR</a:t>
            </a:r>
            <a:r>
              <a:rPr lang="en-US" dirty="0"/>
              <a:t>, </a:t>
            </a:r>
            <a:r>
              <a:rPr lang="en-US" dirty="0" err="1"/>
              <a:t>OSA_Probability</a:t>
            </a:r>
            <a:r>
              <a:rPr lang="en-US" dirty="0"/>
              <a:t>) and metabolic stress (labs).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89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FE6E-BB3D-F8B2-589C-A3AF259C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F5C1-06FE-967B-78FA-E596346A7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Model</a:t>
            </a:r>
            <a:r>
              <a:rPr lang="en-US" dirty="0"/>
              <a:t>: Random Forest Classifier with Synthetic Minority Oversampling Technique (SMOTE). </a:t>
            </a:r>
          </a:p>
          <a:p>
            <a:pPr lvl="0"/>
            <a:r>
              <a:rPr lang="en-US" b="1" dirty="0"/>
              <a:t>Parameters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n_estimators</a:t>
            </a:r>
            <a:r>
              <a:rPr lang="en-US" dirty="0"/>
              <a:t>=200, </a:t>
            </a:r>
            <a:r>
              <a:rPr lang="en-US" dirty="0" err="1"/>
              <a:t>max_depth</a:t>
            </a:r>
            <a:r>
              <a:rPr lang="en-US" dirty="0"/>
              <a:t>=20, </a:t>
            </a:r>
            <a:r>
              <a:rPr lang="en-US" dirty="0" err="1"/>
              <a:t>max_features</a:t>
            </a:r>
            <a:r>
              <a:rPr lang="en-US" dirty="0"/>
              <a:t>='sqrt', </a:t>
            </a:r>
            <a:r>
              <a:rPr lang="en-US" dirty="0" err="1"/>
              <a:t>class_weight</a:t>
            </a:r>
            <a:r>
              <a:rPr lang="en-US" dirty="0"/>
              <a:t>='balanced'. </a:t>
            </a:r>
          </a:p>
          <a:p>
            <a:pPr lvl="1"/>
            <a:r>
              <a:rPr lang="en-US" dirty="0"/>
              <a:t>Random state: 42.</a:t>
            </a:r>
          </a:p>
          <a:p>
            <a:pPr lvl="0"/>
            <a:r>
              <a:rPr lang="en-US" b="1" dirty="0"/>
              <a:t>Evaluation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80/20 train-test split (2,558 train, 640 test). </a:t>
            </a:r>
          </a:p>
          <a:p>
            <a:pPr lvl="1"/>
            <a:r>
              <a:rPr lang="en-US" dirty="0"/>
              <a:t>5-fold cross-validation. </a:t>
            </a:r>
          </a:p>
          <a:p>
            <a:pPr lvl="1"/>
            <a:r>
              <a:rPr lang="en-US" dirty="0"/>
              <a:t>Primary metric: F1-score (focus on deceased class).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7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BFAB-5095-A12D-088E-31BF6DE7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5A41-9792-EC9F-F382-CE11D247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SMOTE Model Results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Accuracy</a:t>
            </a:r>
            <a:r>
              <a:rPr lang="en-US" dirty="0"/>
              <a:t>: 0.80 </a:t>
            </a:r>
          </a:p>
          <a:p>
            <a:pPr lvl="1"/>
            <a:r>
              <a:rPr lang="en-US" b="1" dirty="0"/>
              <a:t>Class 0 (Survived)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Precision: 0.87, Recall: 0.91, F1: 0.88</a:t>
            </a:r>
          </a:p>
          <a:p>
            <a:pPr lvl="1"/>
            <a:r>
              <a:rPr lang="en-US" b="1" dirty="0"/>
              <a:t>Class 1 (Deceased)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Precision: 0.38, Recall: 0.39, F1: 0.38</a:t>
            </a:r>
          </a:p>
          <a:p>
            <a:pPr lvl="1"/>
            <a:r>
              <a:rPr lang="en-US" b="1" dirty="0"/>
              <a:t>Confusion Matrix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True Negatives: 490, False Positives: 50 </a:t>
            </a:r>
          </a:p>
          <a:p>
            <a:pPr lvl="2"/>
            <a:r>
              <a:rPr lang="en-US" dirty="0"/>
              <a:t>False Negatives: 77, True Positives: 39</a:t>
            </a:r>
          </a:p>
          <a:p>
            <a:r>
              <a:rPr lang="en-US" b="1" dirty="0"/>
              <a:t>Cross-Validation</a:t>
            </a:r>
            <a:r>
              <a:rPr lang="en-US" dirty="0"/>
              <a:t>: Mean F1-score = 0.20 ± 0.06</a:t>
            </a:r>
          </a:p>
        </p:txBody>
      </p:sp>
    </p:spTree>
    <p:extLst>
      <p:ext uri="{BB962C8B-B14F-4D97-AF65-F5344CB8AC3E}">
        <p14:creationId xmlns:p14="http://schemas.microsoft.com/office/powerpoint/2010/main" val="66010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488D-15E3-C46F-5366-7C9BEA98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 Features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30B8E3-BD46-D6D0-05DD-F68A029E6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663" y="1600899"/>
            <a:ext cx="5036342" cy="4351338"/>
          </a:xfrm>
        </p:spPr>
      </p:pic>
    </p:spTree>
    <p:extLst>
      <p:ext uri="{BB962C8B-B14F-4D97-AF65-F5344CB8AC3E}">
        <p14:creationId xmlns:p14="http://schemas.microsoft.com/office/powerpoint/2010/main" val="262037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798B-80A7-88FE-294E-368E4033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Multivariate vs. TAC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7E787C-25D5-5BE8-4424-C1D2AFF72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7891" y="1484662"/>
            <a:ext cx="5625423" cy="3670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0045DA-E816-FAF8-6AA2-97E5BA0F2003}"/>
              </a:ext>
            </a:extLst>
          </p:cNvPr>
          <p:cNvSpPr txBox="1"/>
          <p:nvPr/>
        </p:nvSpPr>
        <p:spPr>
          <a:xfrm>
            <a:off x="937647" y="5749871"/>
            <a:ext cx="10593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Insight: Multivariate AUC is an improvement over Total Activity (TAC)</a:t>
            </a:r>
          </a:p>
        </p:txBody>
      </p:sp>
    </p:spTree>
    <p:extLst>
      <p:ext uri="{BB962C8B-B14F-4D97-AF65-F5344CB8AC3E}">
        <p14:creationId xmlns:p14="http://schemas.microsoft.com/office/powerpoint/2010/main" val="1756283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1779-CC65-AC68-C2AE-02B82211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 Importance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3BC3-0AE6-F6BB-0625-583FBEBC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193" y="1585401"/>
            <a:ext cx="6616485" cy="4351338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Top Predictors</a:t>
            </a:r>
            <a:r>
              <a:rPr lang="en-US" dirty="0"/>
              <a:t>: 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dirty="0"/>
              <a:t>Total Activity Counts (TAC): 0.1588 </a:t>
            </a:r>
          </a:p>
          <a:p>
            <a:pPr lvl="1"/>
            <a:r>
              <a:rPr lang="en-US" dirty="0"/>
              <a:t>Age: 0.1526 </a:t>
            </a:r>
          </a:p>
          <a:p>
            <a:pPr lvl="1"/>
            <a:r>
              <a:rPr lang="en-US" dirty="0"/>
              <a:t>Creatinine: 0.0938 </a:t>
            </a:r>
          </a:p>
          <a:p>
            <a:pPr lvl="1"/>
            <a:r>
              <a:rPr lang="en-US" dirty="0"/>
              <a:t>Triglycerides: 0.0730 </a:t>
            </a:r>
          </a:p>
          <a:p>
            <a:pPr lvl="1"/>
            <a:r>
              <a:rPr lang="en-US" dirty="0"/>
              <a:t>Lactate Dehydrogenase (LDH): 0.0721 </a:t>
            </a:r>
          </a:p>
          <a:p>
            <a:pPr lvl="1"/>
            <a:r>
              <a:rPr lang="en-US" dirty="0" err="1"/>
              <a:t>WHtR_calculated</a:t>
            </a:r>
            <a:r>
              <a:rPr lang="en-US" dirty="0"/>
              <a:t>: 0.0714 </a:t>
            </a:r>
          </a:p>
          <a:p>
            <a:pPr lvl="1"/>
            <a:r>
              <a:rPr lang="en-US" dirty="0" err="1"/>
              <a:t>LogCRP</a:t>
            </a:r>
            <a:r>
              <a:rPr lang="en-US" dirty="0"/>
              <a:t>: 0.0696 </a:t>
            </a:r>
          </a:p>
          <a:p>
            <a:pPr lvl="1"/>
            <a:r>
              <a:rPr lang="en-US" dirty="0"/>
              <a:t>Uric acid: 0.0653</a:t>
            </a:r>
          </a:p>
        </p:txBody>
      </p:sp>
    </p:spTree>
    <p:extLst>
      <p:ext uri="{BB962C8B-B14F-4D97-AF65-F5344CB8AC3E}">
        <p14:creationId xmlns:p14="http://schemas.microsoft.com/office/powerpoint/2010/main" val="162091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ADEF-38E1-85B1-595D-4B1C059C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 Importance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A18E2E-A0AD-2501-0C9A-16D2CA1EC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5112" y="1352927"/>
            <a:ext cx="572627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41B998-54C9-CB37-E0B4-1C43DEFABAE1}"/>
              </a:ext>
            </a:extLst>
          </p:cNvPr>
          <p:cNvSpPr txBox="1"/>
          <p:nvPr/>
        </p:nvSpPr>
        <p:spPr>
          <a:xfrm>
            <a:off x="5408908" y="2851688"/>
            <a:ext cx="3208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Features Exert The Greatest Influence On The Model</a:t>
            </a:r>
          </a:p>
        </p:txBody>
      </p:sp>
    </p:spTree>
    <p:extLst>
      <p:ext uri="{BB962C8B-B14F-4D97-AF65-F5344CB8AC3E}">
        <p14:creationId xmlns:p14="http://schemas.microsoft.com/office/powerpoint/2010/main" val="2712870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AD24-EDE2-E2ED-9450-B1D7A2B5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Comparison with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3655-11EE-3623-0BC1-8B9DCE717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Baseline Model (No SMOTE)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Accuracy: 0.85 </a:t>
            </a:r>
          </a:p>
          <a:p>
            <a:pPr lvl="1"/>
            <a:r>
              <a:rPr lang="en-US" dirty="0"/>
              <a:t>Class 1 (Deceased) F1: 0.21 (Recall: 0.14, Precision: 0.39) </a:t>
            </a:r>
          </a:p>
          <a:p>
            <a:pPr lvl="1"/>
            <a:r>
              <a:rPr lang="en-US" dirty="0"/>
              <a:t>True Positives: 14 (vs. 39 with SMOTE)</a:t>
            </a:r>
          </a:p>
          <a:p>
            <a:pPr lvl="0"/>
            <a:r>
              <a:rPr lang="en-US" b="1" dirty="0"/>
              <a:t>SMOTE Impact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Improved deceased class recall (0.14 → 0.39) and F1 (0.21 → 0.38). </a:t>
            </a:r>
          </a:p>
          <a:p>
            <a:pPr lvl="1"/>
            <a:r>
              <a:rPr lang="en-US" dirty="0"/>
              <a:t>Trade-off: Lower accuracy (0.85 → 0.80), more false positives (17 → 50).</a:t>
            </a:r>
          </a:p>
          <a:p>
            <a:pPr marL="457200" lvl="1" indent="0">
              <a:buNone/>
            </a:pPr>
            <a:endParaRPr lang="en-US" dirty="0"/>
          </a:p>
          <a:p>
            <a:pPr lvl="0"/>
            <a:r>
              <a:rPr lang="en-US" b="1" dirty="0"/>
              <a:t>Conclusion</a:t>
            </a:r>
            <a:r>
              <a:rPr lang="en-US" dirty="0"/>
              <a:t>: SMOTE enhances minority class prediction, critical for mortality risk detection.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6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4008-8E25-CF6A-1565-AB7BB430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3FA95-0797-C5DD-77FE-60878A3BC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Total Activity Counts (TAC)</a:t>
            </a:r>
            <a:r>
              <a:rPr lang="en-US" dirty="0"/>
              <a:t>: Strongest predictor (0.1588), aligning with Leroux et al.’s findings on activity’s role in 5-year mortality, emphasizing physical activity’s impact.</a:t>
            </a:r>
          </a:p>
          <a:p>
            <a:r>
              <a:rPr lang="en-US" b="1" dirty="0"/>
              <a:t>Age</a:t>
            </a:r>
            <a:r>
              <a:rPr lang="en-US" dirty="0"/>
              <a:t>: High influence (0.1526), consistent with its established role as a mortality risk factor across populations.</a:t>
            </a:r>
          </a:p>
          <a:p>
            <a:r>
              <a:rPr lang="en-US" b="1" dirty="0"/>
              <a:t>Laboratory Markers</a:t>
            </a:r>
            <a:r>
              <a:rPr lang="en-US" dirty="0"/>
              <a:t>: Significant contributors include Creatinine (0.0938), Triglycerides (0.0730), LDH (0.0721), </a:t>
            </a:r>
            <a:r>
              <a:rPr lang="en-US" dirty="0" err="1"/>
              <a:t>LogCRP</a:t>
            </a:r>
            <a:r>
              <a:rPr lang="en-US" dirty="0"/>
              <a:t> (0.0696), and Uric acid (0.0653), reflecting metabolic stress and inflammation’s role in longevity.</a:t>
            </a:r>
          </a:p>
          <a:p>
            <a:r>
              <a:rPr lang="en-US" b="1" dirty="0"/>
              <a:t>Waist-to-Height Ratio (</a:t>
            </a:r>
            <a:r>
              <a:rPr lang="en-US" b="1" dirty="0" err="1"/>
              <a:t>WHtR</a:t>
            </a:r>
            <a:r>
              <a:rPr lang="en-US" b="1" dirty="0"/>
              <a:t>)</a:t>
            </a:r>
            <a:r>
              <a:rPr lang="en-US" dirty="0"/>
              <a:t>: Notable at 0.0714, suggesting a better proxy for obesity-related risks compared to BMI categories.</a:t>
            </a:r>
          </a:p>
          <a:p>
            <a:r>
              <a:rPr lang="en-US" b="1" dirty="0"/>
              <a:t>Sleep apnea probability</a:t>
            </a:r>
            <a:r>
              <a:rPr lang="en-US" dirty="0"/>
              <a:t>: Ranked lower than activity. The day’s balance is more important than the night’s, but both are important.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182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3DEC-E899-E3A2-0AB8-40D27B9C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6E25-F592-D4EB-DB99-1F5DAB95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791D-F5C9-6F46-6AEB-2FA69FAA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b="1" dirty="0"/>
              <a:t>Detailed Feature Insights</a:t>
            </a:r>
          </a:p>
          <a:p>
            <a:r>
              <a:rPr lang="en-US" b="1" dirty="0"/>
              <a:t>HTN Categories</a:t>
            </a:r>
            <a:r>
              <a:rPr lang="en-US" dirty="0"/>
              <a:t>: Ranked impact (0.0247–0.0210 across levels), indicating hypertension’s graded effect on mortality, warranting further exploration of severity thresholds.</a:t>
            </a:r>
          </a:p>
          <a:p>
            <a:r>
              <a:rPr lang="en-US" b="1" dirty="0"/>
              <a:t>BMI Categories</a:t>
            </a:r>
            <a:r>
              <a:rPr lang="en-US" dirty="0"/>
              <a:t>: Lower ranking (below top features), highlighting </a:t>
            </a:r>
            <a:r>
              <a:rPr lang="en-US" dirty="0" err="1"/>
              <a:t>WHtR’s</a:t>
            </a:r>
            <a:r>
              <a:rPr lang="en-US" dirty="0"/>
              <a:t> superior association with mortality risk over traditional BMI classifications.</a:t>
            </a:r>
          </a:p>
          <a:p>
            <a:r>
              <a:rPr lang="en-US" b="1" dirty="0"/>
              <a:t>Race</a:t>
            </a:r>
            <a:r>
              <a:rPr lang="en-US" dirty="0"/>
              <a:t>: Modest influence (e.g., 0.0210 for White), suggesting demographic factors play a secondary but notable role, possibly due to socioeconomic or genetic variations.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70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4787-81BB-6771-46C4-F45EF72C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7DC0-0DEF-8F78-DFC9-A283B8AE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68EC-74D5-50B1-8E56-5D4A0E8A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b="1" dirty="0"/>
              <a:t>Key Finding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Low activity (TAC), obesity (</a:t>
            </a:r>
            <a:r>
              <a:rPr lang="en-US" dirty="0" err="1"/>
              <a:t>WHtR</a:t>
            </a:r>
            <a:r>
              <a:rPr lang="en-US" dirty="0"/>
              <a:t>), and metabolic stress (Creatinine, Triglycerides, LDH, CRP) predict mortality. </a:t>
            </a:r>
          </a:p>
          <a:p>
            <a:pPr lvl="1"/>
            <a:r>
              <a:rPr lang="en-US" dirty="0"/>
              <a:t>Activity during the day rules over sleep apnea probability</a:t>
            </a:r>
          </a:p>
          <a:p>
            <a:pPr lvl="1"/>
            <a:r>
              <a:rPr lang="en-US" dirty="0"/>
              <a:t>Hypertension and BMI subgroups need a separate analysis. Unexpected results.</a:t>
            </a:r>
          </a:p>
          <a:p>
            <a:pPr lvl="1"/>
            <a:r>
              <a:rPr lang="en-US" dirty="0"/>
              <a:t>SMOTE improves deceased class detection but introduces variability.</a:t>
            </a:r>
          </a:p>
          <a:p>
            <a:pPr lvl="0"/>
            <a:r>
              <a:rPr lang="en-US" b="1" dirty="0"/>
              <a:t>Limitations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Low F1-score (0.38 for deceased) and cross-validation score (0.20 ± 0.06) suggest underfitting. </a:t>
            </a:r>
          </a:p>
          <a:p>
            <a:pPr lvl="1"/>
            <a:r>
              <a:rPr lang="en-US" dirty="0"/>
              <a:t>Study population (age ≥49) limits generalizability. Data is cross sectional with several confounding factors that may bear on the analyses.</a:t>
            </a:r>
          </a:p>
          <a:p>
            <a:pPr lvl="1"/>
            <a:r>
              <a:rPr lang="en-US" dirty="0"/>
              <a:t>Other features in the NHANES need to be explored (e.g. occupation, dwelling type).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506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EF6A-5873-D7D5-6EB7-C7D65F0B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53" y="35737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1FE47-944C-9615-F3A7-F6ADB0CDD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Summary</a:t>
            </a:r>
            <a:r>
              <a:rPr lang="en-US" dirty="0"/>
              <a:t>: Random Forest Classifier with SMOTE confirms that breathing insufficiency (TAC, </a:t>
            </a:r>
            <a:r>
              <a:rPr lang="en-US" dirty="0" err="1"/>
              <a:t>WHtR</a:t>
            </a:r>
            <a:r>
              <a:rPr lang="en-US" dirty="0"/>
              <a:t>) and metabolic stress (labs) predict mortality in NHANES 2003-2006 data. </a:t>
            </a:r>
          </a:p>
          <a:p>
            <a:pPr lvl="0"/>
            <a:r>
              <a:rPr lang="en-US" b="1" dirty="0"/>
              <a:t>Impact</a:t>
            </a:r>
            <a:r>
              <a:rPr lang="en-US" dirty="0"/>
              <a:t>: Provides insights and a portrait of energy balance and longevity, supporting activity-based interventions, sleep apnea treatment, weight management and screening with specific labs. </a:t>
            </a:r>
          </a:p>
          <a:p>
            <a:pPr lvl="0"/>
            <a:r>
              <a:rPr lang="en-US" b="1" dirty="0"/>
              <a:t>Next Steps</a:t>
            </a:r>
            <a:r>
              <a:rPr lang="en-US" dirty="0"/>
              <a:t>: Enhance model performance, combine features, expand feature set, and apply to broader populations. </a:t>
            </a:r>
          </a:p>
          <a:p>
            <a:pPr lvl="0"/>
            <a:r>
              <a:rPr lang="en-US" b="1" dirty="0"/>
              <a:t>Data Availability</a:t>
            </a:r>
            <a:r>
              <a:rPr lang="en-US" dirty="0"/>
              <a:t>: Cleaned datasets (NHANES_mort_bmx.csv, nhanes_mortality_activity_morph_labs_2003_2006.csv) ready for further analysis, among others such as medications.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79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1362</Words>
  <Application>Microsoft Office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Office Theme</vt:lpstr>
      <vt:lpstr>A Portrait of Mortality Prediction with NHANES 2003-2006: Morphometrics, Activity, and Metabolic Markers  </vt:lpstr>
      <vt:lpstr>Introduction </vt:lpstr>
      <vt:lpstr>Background</vt:lpstr>
      <vt:lpstr>Data Sources &amp; Preprocessing</vt:lpstr>
      <vt:lpstr>Data Set: Mortality</vt:lpstr>
      <vt:lpstr>Exploratory Data Analysis (EDA)</vt:lpstr>
      <vt:lpstr>Features</vt:lpstr>
      <vt:lpstr>Feature Engineering</vt:lpstr>
      <vt:lpstr>Model Development</vt:lpstr>
      <vt:lpstr>Model Performance</vt:lpstr>
      <vt:lpstr>Top Features</vt:lpstr>
      <vt:lpstr>Multivariate vs. TAC</vt:lpstr>
      <vt:lpstr>Feature Importance </vt:lpstr>
      <vt:lpstr>Features Importance </vt:lpstr>
      <vt:lpstr>Comparison with Baseline</vt:lpstr>
      <vt:lpstr>Discussion</vt:lpstr>
      <vt:lpstr>Discussion</vt:lpstr>
      <vt:lpstr>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Karadsheh</dc:creator>
  <cp:lastModifiedBy>A Karadsheh</cp:lastModifiedBy>
  <cp:revision>5</cp:revision>
  <dcterms:created xsi:type="dcterms:W3CDTF">2025-06-30T02:12:26Z</dcterms:created>
  <dcterms:modified xsi:type="dcterms:W3CDTF">2025-07-01T00:29:03Z</dcterms:modified>
</cp:coreProperties>
</file>